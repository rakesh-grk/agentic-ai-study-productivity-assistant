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111E"/>
          </a:solidFill>
          <a:ln>
            <a:solidFill>
              <a:srgbClr val="0077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362895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Agentic AI Study &amp; Productivity Assistant</a:t>
            </a:r>
          </a:p>
          <a:p>
            <a:pPr>
              <a:spcBef>
                <a:spcPts val="1400"/>
              </a:spcBef>
              <a:defRPr sz="2000">
                <a:solidFill>
                  <a:srgbClr val="00B4D8"/>
                </a:solidFill>
              </a:defRPr>
            </a:pPr>
            <a:r>
              <a:t>Autonomous Multi-Agent Planning, Tool Calling, Memory &amp; Result Verification</a:t>
            </a:r>
          </a:p>
          <a:p>
            <a:br/>
            <a:pPr>
              <a:defRPr sz="1500">
                <a:solidFill>
                  <a:srgbClr val="B4C8DC"/>
                </a:solidFill>
              </a:defRPr>
            </a:pPr>
            <a:r>
              <a:t>Student: G. Rakesh Kumar  |  ID: [STUDENT_ID]</a:t>
            </a:r>
            <a:br/>
            <a:r>
              <a:t>Institution: [INSTITUTION_NAME]  |  Evaluation Date: [SUBMISSION_DATE]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B1A30"/>
          </a:solidFill>
          <a:ln>
            <a:solidFill>
              <a:srgbClr val="0077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0" tIns="182880"/>
          <a:lstStyle/>
          <a:p>
            <a:pPr algn="ctr">
              <a:defRPr sz="1100" b="1">
                <a:solidFill>
                  <a:srgbClr val="00B4D8"/>
                </a:solidFill>
              </a:defRPr>
            </a:pPr>
            <a:r>
              <a:t>AGENTIC AI COURSE COMPLETION PROJECT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Problem Statement &amp; Educational Challenges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645920"/>
            <a:ext cx="5120640" cy="4572000"/>
          </a:xfrm>
          <a:prstGeom prst="rect">
            <a:avLst/>
          </a:prstGeom>
          <a:solidFill>
            <a:srgbClr val="112240"/>
          </a:solidFill>
          <a:ln w="25400">
            <a:solidFill>
              <a:srgbClr val="0077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tIns="274320" rIns="365760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The Challenges in Modern Learning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Cognitive overload when breaking down large exam syllabi.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Generative AI chatbots produce hallucinated study schedules with inaccurate hours.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Unverified math pacing leading to unrealistic study targets.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Lack of structured active recall testing and feedback loops.</a:t>
            </a:r>
          </a:p>
        </p:txBody>
      </p:sp>
      <p:sp>
        <p:nvSpPr>
          <p:cNvPr id="4" name="Rectangle 3"/>
          <p:cNvSpPr/>
          <p:nvPr/>
        </p:nvSpPr>
        <p:spPr>
          <a:xfrm>
            <a:off x="6309360" y="1645920"/>
            <a:ext cx="5120640" cy="4572000"/>
          </a:xfrm>
          <a:prstGeom prst="rect">
            <a:avLst/>
          </a:prstGeom>
          <a:solidFill>
            <a:srgbClr val="112240"/>
          </a:solidFill>
          <a:ln w="25400">
            <a:solidFill>
              <a:srgbClr val="0077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tIns="274320" rIns="365760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Why Conversational Chatbots Fail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Single-turn token prediction without multi-step strategic planning.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No programmatic verification of mathematical consistency.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Arbitrary code execution security risks in ungrounded tools.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Episodic memory resets on page refresh.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B1A30"/>
          </a:solidFill>
          <a:ln>
            <a:solidFill>
              <a:srgbClr val="0077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0" tIns="182880"/>
          <a:lstStyle/>
          <a:p>
            <a:pPr algn="ctr">
              <a:defRPr sz="1100" b="1">
                <a:solidFill>
                  <a:srgbClr val="00B4D8"/>
                </a:solidFill>
              </a:defRPr>
            </a:pPr>
            <a:r>
              <a:t>AGENTIC AI COURSE COMPLETION PROJECT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Project Objectives &amp; Core Innovations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645920"/>
            <a:ext cx="5120640" cy="4572000"/>
          </a:xfrm>
          <a:prstGeom prst="rect">
            <a:avLst/>
          </a:prstGeom>
          <a:solidFill>
            <a:srgbClr val="112240"/>
          </a:solidFill>
          <a:ln w="25400">
            <a:solidFill>
              <a:srgbClr val="0077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tIns="274320" rIns="365760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Primary System Objectives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Hierarchical Goal Decomposition: Formulate structured TaskPlans.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Safe Tool Allowlisting: Restrict operations to verified utilities.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AST Math Parsing: Deterministic calculations without eval().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Critic Verification Loop: Closed-loop auditing with bounded retries.</a:t>
            </a:r>
          </a:p>
        </p:txBody>
      </p:sp>
      <p:sp>
        <p:nvSpPr>
          <p:cNvPr id="4" name="Rectangle 3"/>
          <p:cNvSpPr/>
          <p:nvPr/>
        </p:nvSpPr>
        <p:spPr>
          <a:xfrm>
            <a:off x="6309360" y="1645920"/>
            <a:ext cx="5120640" cy="4572000"/>
          </a:xfrm>
          <a:prstGeom prst="rect">
            <a:avLst/>
          </a:prstGeom>
          <a:solidFill>
            <a:srgbClr val="112240"/>
          </a:solidFill>
          <a:ln w="25400">
            <a:solidFill>
              <a:srgbClr val="0077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tIns="274320" rIns="365760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Dual-Mode Reliability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Live LLM Mode: Connect to Gemini, OpenAI, or Anthropic.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Offline Demonstration Mode: Deterministic local agent pipeline.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Zero API Dependencies Required: 100% usable without tokens.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Academic Verifiability: Reproducible test results on any machine.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B1A30"/>
          </a:solidFill>
          <a:ln>
            <a:solidFill>
              <a:srgbClr val="0077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0" tIns="182880"/>
          <a:lstStyle/>
          <a:p>
            <a:pPr algn="ctr">
              <a:defRPr sz="1100" b="1">
                <a:solidFill>
                  <a:srgbClr val="00B4D8"/>
                </a:solidFill>
              </a:defRPr>
            </a:pPr>
            <a:r>
              <a:t>AGENTIC AI COURSE COMPLETION PROJECT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Multi-Agent System Architecture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645920"/>
            <a:ext cx="3291840" cy="4572000"/>
          </a:xfrm>
          <a:prstGeom prst="rect">
            <a:avLst/>
          </a:prstGeom>
          <a:solidFill>
            <a:srgbClr val="112240"/>
          </a:solidFill>
          <a:ln w="25400">
            <a:solidFill>
              <a:srgbClr val="0077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tIns="274320" rIns="365760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1. Planning &amp; Knowledge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Planner Agent: Interprets goals, extracts constraints, outputs typed TaskPlan.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Knowledge Agent: Queries verified local curriculum without web hallucinations.</a:t>
            </a:r>
          </a:p>
        </p:txBody>
      </p:sp>
      <p:sp>
        <p:nvSpPr>
          <p:cNvPr id="4" name="Rectangle 3"/>
          <p:cNvSpPr/>
          <p:nvPr/>
        </p:nvSpPr>
        <p:spPr>
          <a:xfrm>
            <a:off x="4389120" y="1645920"/>
            <a:ext cx="3291840" cy="4572000"/>
          </a:xfrm>
          <a:prstGeom prst="rect">
            <a:avLst/>
          </a:prstGeom>
          <a:solidFill>
            <a:srgbClr val="112240"/>
          </a:solidFill>
          <a:ln w="25400">
            <a:solidFill>
              <a:srgbClr val="0077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tIns="274320" rIns="365760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2. Execution &amp; Tools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Executor Agent: Safe parameter routing to allowlisted functions.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Tools: Timetable generator, Quiz maker, AST math calculator, Doc summarizer.</a:t>
            </a:r>
          </a:p>
        </p:txBody>
      </p:sp>
      <p:sp>
        <p:nvSpPr>
          <p:cNvPr id="5" name="Rectangle 4"/>
          <p:cNvSpPr/>
          <p:nvPr/>
        </p:nvSpPr>
        <p:spPr>
          <a:xfrm>
            <a:off x="8046720" y="1645920"/>
            <a:ext cx="3383280" cy="4572000"/>
          </a:xfrm>
          <a:prstGeom prst="rect">
            <a:avLst/>
          </a:prstGeom>
          <a:solidFill>
            <a:srgbClr val="112240"/>
          </a:solidFill>
          <a:ln w="25400">
            <a:solidFill>
              <a:srgbClr val="0077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tIns="274320" rIns="365760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3. Verification &amp; Memory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Critic Agent: Audits arithmetic, completeness, and structure (Max 2 revisions).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Memory Manager: SQLite persistence with auto-sanitization of API keys.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B1A30"/>
          </a:solidFill>
          <a:ln>
            <a:solidFill>
              <a:srgbClr val="0077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0" tIns="182880"/>
          <a:lstStyle/>
          <a:p>
            <a:pPr algn="ctr">
              <a:defRPr sz="1100" b="1">
                <a:solidFill>
                  <a:srgbClr val="00B4D8"/>
                </a:solidFill>
              </a:defRPr>
            </a:pPr>
            <a:r>
              <a:t>AGENTIC AI COURSE COMPLETION PROJECT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Agent Roles &amp; Responsibilities Matrix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645920"/>
            <a:ext cx="5120640" cy="4572000"/>
          </a:xfrm>
          <a:prstGeom prst="rect">
            <a:avLst/>
          </a:prstGeom>
          <a:solidFill>
            <a:srgbClr val="112240"/>
          </a:solidFill>
          <a:ln w="25400">
            <a:solidFill>
              <a:srgbClr val="0077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tIns="274320" rIns="365760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Autonomous Agents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Planner Agent: Generates subtasks and designates agent assignments.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Knowledge Agent: Attributed citations from curated local knowledge.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Executor Agent: Runs allowlisted tools with strict schema validation.</a:t>
            </a:r>
          </a:p>
        </p:txBody>
      </p:sp>
      <p:sp>
        <p:nvSpPr>
          <p:cNvPr id="4" name="Rectangle 3"/>
          <p:cNvSpPr/>
          <p:nvPr/>
        </p:nvSpPr>
        <p:spPr>
          <a:xfrm>
            <a:off x="6309360" y="1645920"/>
            <a:ext cx="5120640" cy="4572000"/>
          </a:xfrm>
          <a:prstGeom prst="rect">
            <a:avLst/>
          </a:prstGeom>
          <a:solidFill>
            <a:srgbClr val="112240"/>
          </a:solidFill>
          <a:ln w="25400">
            <a:solidFill>
              <a:srgbClr val="0077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tIns="274320" rIns="365760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Coordination &amp; Memory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Critic Agent: Computes quality scores and flags deficiencies.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Memory Manager: Parameterized SQLite storage for approved tasks.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Study Orchestrator: Central coordinator managing execution timeline.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B1A30"/>
          </a:solidFill>
          <a:ln>
            <a:solidFill>
              <a:srgbClr val="0077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0" tIns="182880"/>
          <a:lstStyle/>
          <a:p>
            <a:pPr algn="ctr">
              <a:defRPr sz="1100" b="1">
                <a:solidFill>
                  <a:srgbClr val="00B4D8"/>
                </a:solidFill>
              </a:defRPr>
            </a:pPr>
            <a:r>
              <a:t>AGENTIC AI COURSE COMPLETION PROJECT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Security Architecture: Safe Tool Allowlisting &amp; AST Math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645920"/>
            <a:ext cx="5120640" cy="4572000"/>
          </a:xfrm>
          <a:prstGeom prst="rect">
            <a:avLst/>
          </a:prstGeom>
          <a:solidFill>
            <a:srgbClr val="112240"/>
          </a:solidFill>
          <a:ln w="25400">
            <a:solidFill>
              <a:srgbClr val="0077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tIns="274320" rIns="365760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AST Math Evaluator (No eval/exec)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Python's eval() poses extreme code execution vulnerabilities.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Our AST parser traverses Abstract Syntax Tree nodes explicitly.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Only approved operators (+, -, *, /, %, pow) are permitted.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Any unexpected node raises an immediate, safe ValueError.</a:t>
            </a:r>
          </a:p>
        </p:txBody>
      </p:sp>
      <p:sp>
        <p:nvSpPr>
          <p:cNvPr id="4" name="Rectangle 3"/>
          <p:cNvSpPr/>
          <p:nvPr/>
        </p:nvSpPr>
        <p:spPr>
          <a:xfrm>
            <a:off x="6309360" y="1645920"/>
            <a:ext cx="5120640" cy="4572000"/>
          </a:xfrm>
          <a:prstGeom prst="rect">
            <a:avLst/>
          </a:prstGeom>
          <a:solidFill>
            <a:srgbClr val="112240"/>
          </a:solidFill>
          <a:ln w="25400">
            <a:solidFill>
              <a:srgbClr val="0077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tIns="274320" rIns="365760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Additional Security Guardrails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Strict Allowlist: Executor Agent rejects unapproved tool names.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SQL Parameterization: All SQLite statements use safe '?' placeholders.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Credential Redaction: Regex filters strip API keys before database writes.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Document Ceilings: Max 4,000-character limits to prevent buffer exhaustion.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B1A30"/>
          </a:solidFill>
          <a:ln>
            <a:solidFill>
              <a:srgbClr val="0077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0" tIns="182880"/>
          <a:lstStyle/>
          <a:p>
            <a:pPr algn="ctr">
              <a:defRPr sz="1100" b="1">
                <a:solidFill>
                  <a:srgbClr val="00B4D8"/>
                </a:solidFill>
              </a:defRPr>
            </a:pPr>
            <a:r>
              <a:t>AGENTIC AI COURSE COMPLETION PROJECT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Critic &amp; Verification Feedback Loop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645920"/>
            <a:ext cx="5120640" cy="4572000"/>
          </a:xfrm>
          <a:prstGeom prst="rect">
            <a:avLst/>
          </a:prstGeom>
          <a:solidFill>
            <a:srgbClr val="112240"/>
          </a:solidFill>
          <a:ln w="25400">
            <a:solidFill>
              <a:srgbClr val="0077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tIns="274320" rIns="365760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Multi-Point Quality Auditing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Completeness Check: Confirms all planned subtasks finished.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Arithmetic Check: Asserts Total Hours == Days * Hours/Day.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Quiz Structural Check: Verifies options count, answer key, and rationales.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Confidence Score: Quantitative scoring (0% to 100%) computed per run.</a:t>
            </a:r>
          </a:p>
        </p:txBody>
      </p:sp>
      <p:sp>
        <p:nvSpPr>
          <p:cNvPr id="4" name="Rectangle 3"/>
          <p:cNvSpPr/>
          <p:nvPr/>
        </p:nvSpPr>
        <p:spPr>
          <a:xfrm>
            <a:off x="6309360" y="1645920"/>
            <a:ext cx="5120640" cy="4572000"/>
          </a:xfrm>
          <a:prstGeom prst="rect">
            <a:avLst/>
          </a:prstGeom>
          <a:solidFill>
            <a:srgbClr val="112240"/>
          </a:solidFill>
          <a:ln w="25400">
            <a:solidFill>
              <a:srgbClr val="0077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tIns="274320" rIns="365760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Bounded Revision Mechanism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Critic requests revisions when critical deficiencies are detected.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Bounded Retry Budget: Maximum 2 revisions prevents infinite loops.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Transparent Reporting: Unresolved issues are flagged in final report.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Zero False Claims: System never masks failures or fabricates success.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B1A30"/>
          </a:solidFill>
          <a:ln>
            <a:solidFill>
              <a:srgbClr val="0077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0" tIns="182880"/>
          <a:lstStyle/>
          <a:p>
            <a:pPr algn="ctr">
              <a:defRPr sz="1100" b="1">
                <a:solidFill>
                  <a:srgbClr val="00B4D8"/>
                </a:solidFill>
              </a:defRPr>
            </a:pPr>
            <a:r>
              <a:t>AGENTIC AI COURSE COMPLETION PROJECT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Persistent Memory &amp; Privacy Architecture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645920"/>
            <a:ext cx="5120640" cy="4572000"/>
          </a:xfrm>
          <a:prstGeom prst="rect">
            <a:avLst/>
          </a:prstGeom>
          <a:solidFill>
            <a:srgbClr val="112240"/>
          </a:solidFill>
          <a:ln w="25400">
            <a:solidFill>
              <a:srgbClr val="0077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tIns="274320" rIns="365760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SQLite Local Storage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Normalized tables: task_memory and user_preferences.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Saves user-approved study timetables, quizzes, and plans.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Search functionality allows keyword recall across past goals.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Full user control: Delete individual records or purge entire database.</a:t>
            </a:r>
          </a:p>
        </p:txBody>
      </p:sp>
      <p:sp>
        <p:nvSpPr>
          <p:cNvPr id="4" name="Rectangle 3"/>
          <p:cNvSpPr/>
          <p:nvPr/>
        </p:nvSpPr>
        <p:spPr>
          <a:xfrm>
            <a:off x="6309360" y="1645920"/>
            <a:ext cx="5120640" cy="4572000"/>
          </a:xfrm>
          <a:prstGeom prst="rect">
            <a:avLst/>
          </a:prstGeom>
          <a:solidFill>
            <a:srgbClr val="112240"/>
          </a:solidFill>
          <a:ln w="25400">
            <a:solidFill>
              <a:srgbClr val="0077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tIns="274320" rIns="365760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Privacy-First Standards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Runs 100% locally on the user's workstation.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Automated Regex Sanitizer strips sk-... or Google API keys.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No analytics, telemetry, or personal data transmitted externally.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B1A30"/>
          </a:solidFill>
          <a:ln>
            <a:solidFill>
              <a:srgbClr val="0077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0" tIns="182880"/>
          <a:lstStyle/>
          <a:p>
            <a:pPr algn="ctr">
              <a:defRPr sz="1100" b="1">
                <a:solidFill>
                  <a:srgbClr val="00B4D8"/>
                </a:solidFill>
              </a:defRPr>
            </a:pPr>
            <a:r>
              <a:t>AGENTIC AI COURSE COMPLETION PROJECT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Interactive User Interface (Streamlit)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645920"/>
            <a:ext cx="5120640" cy="4572000"/>
          </a:xfrm>
          <a:prstGeom prst="rect">
            <a:avLst/>
          </a:prstGeom>
          <a:solidFill>
            <a:srgbClr val="112240"/>
          </a:solidFill>
          <a:ln w="25400">
            <a:solidFill>
              <a:srgbClr val="0077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tIns="274320" rIns="365760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Modern Navy &amp; Blue Dashboard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Assistant Dashboard: Real-time execution timeline and telemetry.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Example Shortcuts: Pre-populated study goals for quick evaluation.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Direct Tool Sandbox: Independently test calculators and quizzes.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Memory Explorer: Search, inspect, and manage approved task records.</a:t>
            </a:r>
          </a:p>
        </p:txBody>
      </p:sp>
      <p:sp>
        <p:nvSpPr>
          <p:cNvPr id="4" name="Rectangle 3"/>
          <p:cNvSpPr/>
          <p:nvPr/>
        </p:nvSpPr>
        <p:spPr>
          <a:xfrm>
            <a:off x="6309360" y="1645920"/>
            <a:ext cx="5120640" cy="4572000"/>
          </a:xfrm>
          <a:prstGeom prst="rect">
            <a:avLst/>
          </a:prstGeom>
          <a:solidFill>
            <a:srgbClr val="112240"/>
          </a:solidFill>
          <a:ln w="25400">
            <a:solidFill>
              <a:srgbClr val="0077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tIns="274320" rIns="365760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Evaluator-Friendly Features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Force Offline Mode toggle directly in sidebar.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Masked API key indicators showing configuration status.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Expandable audit scorecards detailing checks passed and issues.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B1A30"/>
          </a:solidFill>
          <a:ln>
            <a:solidFill>
              <a:srgbClr val="0077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0" tIns="182880"/>
          <a:lstStyle/>
          <a:p>
            <a:pPr algn="ctr">
              <a:defRPr sz="1100" b="1">
                <a:solidFill>
                  <a:srgbClr val="00B4D8"/>
                </a:solidFill>
              </a:defRPr>
            </a:pPr>
            <a:r>
              <a:t>AGENTIC AI COURSE COMPLETION PROJECT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Automated Testing &amp; Quality Assurance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645920"/>
            <a:ext cx="5120640" cy="4572000"/>
          </a:xfrm>
          <a:prstGeom prst="rect">
            <a:avLst/>
          </a:prstGeom>
          <a:solidFill>
            <a:srgbClr val="112240"/>
          </a:solidFill>
          <a:ln w="25400">
            <a:solidFill>
              <a:srgbClr val="0077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tIns="274320" rIns="365760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Pytest Test Suite Overview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Executed under Python 3.14.5 and pytest 9.1.1.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Total Test Count: 24 Automated Unit &amp; Integration Tests.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Execution Time: 0.57 seconds across 5 test modules.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Pass Rate: 100% Unconditional Success (0 failures, 0 warnings).</a:t>
            </a:r>
          </a:p>
        </p:txBody>
      </p:sp>
      <p:sp>
        <p:nvSpPr>
          <p:cNvPr id="4" name="Rectangle 3"/>
          <p:cNvSpPr/>
          <p:nvPr/>
        </p:nvSpPr>
        <p:spPr>
          <a:xfrm>
            <a:off x="6309360" y="1645920"/>
            <a:ext cx="5120640" cy="4572000"/>
          </a:xfrm>
          <a:prstGeom prst="rect">
            <a:avLst/>
          </a:prstGeom>
          <a:solidFill>
            <a:srgbClr val="112240"/>
          </a:solidFill>
          <a:ln w="25400">
            <a:solidFill>
              <a:srgbClr val="0077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tIns="274320" rIns="365760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Module-by-Module Verification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test_planner.py: 4/4 Passed (Goal breakdown, constraints).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test_tools.py: 8/8 Passed (Timetables, quizzes, AST math, security).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test_memory.py: 5/5 Passed (SQLite CRUD, sanitization, search).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test_critic.py: 3/3 Passed (Math consistency, fault detection).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test_orchestrator.py: 4/4 Passed (End-to-end workflow, callbacks).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B1A30"/>
          </a:solidFill>
          <a:ln>
            <a:solidFill>
              <a:srgbClr val="0077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0" tIns="182880"/>
          <a:lstStyle/>
          <a:p>
            <a:pPr algn="ctr">
              <a:defRPr sz="1100" b="1">
                <a:solidFill>
                  <a:srgbClr val="00B4D8"/>
                </a:solidFill>
              </a:defRPr>
            </a:pPr>
            <a:r>
              <a:t>AGENTIC AI COURSE COMPLETION PROJECT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Limitations &amp; Future Roadmap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645920"/>
            <a:ext cx="5120640" cy="4572000"/>
          </a:xfrm>
          <a:prstGeom prst="rect">
            <a:avLst/>
          </a:prstGeom>
          <a:solidFill>
            <a:srgbClr val="112240"/>
          </a:solidFill>
          <a:ln w="25400">
            <a:solidFill>
              <a:srgbClr val="0077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tIns="274320" rIns="365760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Current Technical Limitations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Document summarization capped at 4,000 characters.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Offline research relies on pre-indexed local curriculum documents.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Single-user desktop architecture rather than multi-tenant cloud.</a:t>
            </a:r>
          </a:p>
        </p:txBody>
      </p:sp>
      <p:sp>
        <p:nvSpPr>
          <p:cNvPr id="4" name="Rectangle 3"/>
          <p:cNvSpPr/>
          <p:nvPr/>
        </p:nvSpPr>
        <p:spPr>
          <a:xfrm>
            <a:off x="6309360" y="1645920"/>
            <a:ext cx="5120640" cy="4572000"/>
          </a:xfrm>
          <a:prstGeom prst="rect">
            <a:avLst/>
          </a:prstGeom>
          <a:solidFill>
            <a:srgbClr val="112240"/>
          </a:solidFill>
          <a:ln w="25400">
            <a:solidFill>
              <a:srgbClr val="0077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tIns="274320" rIns="365760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Future Enhancements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ChromaDB / pgvector integration for multi-page textbook RAG.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Voice study questioning powered by local Whisper speech models.</a:t>
            </a:r>
          </a:p>
          <a:p>
            <a:pPr>
              <a:spcBef>
                <a:spcPts val="800"/>
              </a:spcBef>
              <a:defRPr sz="1400">
                <a:solidFill>
                  <a:srgbClr val="DCE6F2"/>
                </a:solidFill>
              </a:defRPr>
            </a:pPr>
            <a:r>
              <a:t>• Direct export of study timetables to Google Calendar and iCal.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111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362895" cy="3200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Thank You! Questions &amp; Discussion</a:t>
            </a:r>
          </a:p>
          <a:p>
            <a:pPr>
              <a:spcBef>
                <a:spcPts val="1600"/>
              </a:spcBef>
              <a:defRPr sz="2000">
                <a:solidFill>
                  <a:srgbClr val="00B4D8"/>
                </a:solidFill>
              </a:defRPr>
            </a:pPr>
            <a:r>
              <a:t>Agentic AI Study &amp; Productivity Assistant</a:t>
            </a:r>
            <a:br/>
            <a:r>
              <a:t>Complete, tested, and verified autonomous multi-agent implementation.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